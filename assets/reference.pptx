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a421128d87477f" /><Relationship Type="http://schemas.openxmlformats.org/officeDocument/2006/relationships/extended-properties" Target="/docProps/app.xml" Id="R29b3da1883514547" /><Relationship Type="http://schemas.openxmlformats.org/officeDocument/2006/relationships/officeDocument" Target="/ppt/presentation.xml" Id="Ra8d2e40a40ec40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bd257767c640f1"/>
  </p:sldMasterIdLst>
  <p:notesMasterIdLst>
    <p:notesMasterId xmlns:r="http://schemas.openxmlformats.org/officeDocument/2006/relationships" r:id="R0ecd65bb4bcb43de"/>
  </p:notesMasterIdLst>
  <p:sldIdLst>
    <p:sldId xmlns:r="http://schemas.openxmlformats.org/officeDocument/2006/relationships" id="256" r:id="R7825ddd90845480c"/>
    <p:sldId xmlns:r="http://schemas.openxmlformats.org/officeDocument/2006/relationships" id="257" r:id="R96f1957b2bc94d14"/>
    <p:sldId xmlns:r="http://schemas.openxmlformats.org/officeDocument/2006/relationships" id="258" r:id="R91b864d6b3ed4cb9"/>
    <p:sldId xmlns:r="http://schemas.openxmlformats.org/officeDocument/2006/relationships" id="259" r:id="Rfe0e32d2d3d04e28"/>
    <p:sldId xmlns:r="http://schemas.openxmlformats.org/officeDocument/2006/relationships" id="260" r:id="R9d51e6ada67249ab"/>
    <p:sldId xmlns:r="http://schemas.openxmlformats.org/officeDocument/2006/relationships" id="261" r:id="R5f264b7792a2499c"/>
    <p:sldId xmlns:r="http://schemas.openxmlformats.org/officeDocument/2006/relationships" id="262" r:id="Rcf21b6f9ecc1422f"/>
    <p:sldId xmlns:r="http://schemas.openxmlformats.org/officeDocument/2006/relationships" id="263" r:id="Rbcdf140ddf964710"/>
    <p:sldId xmlns:r="http://schemas.openxmlformats.org/officeDocument/2006/relationships" id="264" r:id="Re5e34f7a183047f9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577def024d417a" /><Relationship Type="http://schemas.openxmlformats.org/officeDocument/2006/relationships/slideMaster" Target="/ppt/slideMasters/slideMaster1.xml" Id="R14bd257767c640f1" /><Relationship Type="http://schemas.openxmlformats.org/officeDocument/2006/relationships/notesMaster" Target="/ppt/notesMasters/notesMaster1.xml" Id="R0ecd65bb4bcb43de" /><Relationship Type="http://schemas.openxmlformats.org/officeDocument/2006/relationships/presProps" Target="/ppt/presProps.xml" Id="Ra98e9b81949a4608" /><Relationship Type="http://schemas.openxmlformats.org/officeDocument/2006/relationships/tableStyles" Target="/ppt/tableStyles.xml" Id="R4c616f40737b48c4" /><Relationship Type="http://schemas.openxmlformats.org/officeDocument/2006/relationships/slide" Target="/ppt/slides/slide1.xml" Id="R7825ddd90845480c" /><Relationship Type="http://schemas.openxmlformats.org/officeDocument/2006/relationships/slide" Target="/ppt/slides/slide2.xml" Id="R96f1957b2bc94d14" /><Relationship Type="http://schemas.openxmlformats.org/officeDocument/2006/relationships/slide" Target="/ppt/slides/slide3.xml" Id="R91b864d6b3ed4cb9" /><Relationship Type="http://schemas.openxmlformats.org/officeDocument/2006/relationships/slide" Target="/ppt/slides/slide4.xml" Id="Rfe0e32d2d3d04e28" /><Relationship Type="http://schemas.openxmlformats.org/officeDocument/2006/relationships/slide" Target="/ppt/slides/slide5.xml" Id="R9d51e6ada67249ab" /><Relationship Type="http://schemas.openxmlformats.org/officeDocument/2006/relationships/slide" Target="/ppt/slides/slide6.xml" Id="R5f264b7792a2499c" /><Relationship Type="http://schemas.openxmlformats.org/officeDocument/2006/relationships/slide" Target="/ppt/slides/slide7.xml" Id="Rcf21b6f9ecc1422f" /><Relationship Type="http://schemas.openxmlformats.org/officeDocument/2006/relationships/slide" Target="/ppt/slides/slide8.xml" Id="Rbcdf140ddf964710" /><Relationship Type="http://schemas.openxmlformats.org/officeDocument/2006/relationships/slide" Target="/ppt/slides/slide9.xml" Id="Re5e34f7a183047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0568b3eb1a4f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4079e3f4cb49d6" /><Relationship Type="http://schemas.openxmlformats.org/officeDocument/2006/relationships/notesMaster" Target="/ppt/notesMasters/notesMaster1.xml" Id="R895ba899630544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23a215195b484e" /><Relationship Type="http://schemas.openxmlformats.org/officeDocument/2006/relationships/notesMaster" Target="/ppt/notesMasters/notesMaster1.xml" Id="Re0342566278a4f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8f84b7e4034540" /><Relationship Type="http://schemas.openxmlformats.org/officeDocument/2006/relationships/notesMaster" Target="/ppt/notesMasters/notesMaster1.xml" Id="R08a3c2dbcca245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0829126bc645ae" /><Relationship Type="http://schemas.openxmlformats.org/officeDocument/2006/relationships/notesMaster" Target="/ppt/notesMasters/notesMaster1.xml" Id="Rf312ff294f2143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956638241c4bd2" /><Relationship Type="http://schemas.openxmlformats.org/officeDocument/2006/relationships/notesMaster" Target="/ppt/notesMasters/notesMaster1.xml" Id="R623a5cb07a5440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266a1d564140dc" /><Relationship Type="http://schemas.openxmlformats.org/officeDocument/2006/relationships/notesMaster" Target="/ppt/notesMasters/notesMaster1.xml" Id="Rd260788795184f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aadcadfbec493d" /><Relationship Type="http://schemas.openxmlformats.org/officeDocument/2006/relationships/notesMaster" Target="/ppt/notesMasters/notesMaster1.xml" Id="Rcb0c3fca798c4f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6f0d319963425d" /><Relationship Type="http://schemas.openxmlformats.org/officeDocument/2006/relationships/notesMaster" Target="/ppt/notesMasters/notesMaster1.xml" Id="R9bfe829f121a4d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560fa2ed144111" /><Relationship Type="http://schemas.openxmlformats.org/officeDocument/2006/relationships/notesMaster" Target="/ppt/notesMasters/notesMaster1.xml" Id="Rd0a3d01529d54f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https://ies.ed.gov/learn/blog/announcing-iess-planned-fy27-grantmaking</a:t>
            </a:r>
          </a:p>
          <a:p xmlns:a="http://schemas.openxmlformats.org/drawingml/2006/main">
            <a:r>
              <a:t>- Announcement date and five-competition launch verified on the IES page.</a:t>
            </a:r>
          </a:p>
          <a:p xmlns:a="http://schemas.openxmlformats.org/drawingml/2006/main">
            <a:r>
              <a:t>- OpenAI-generated editorial illustration;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https://ies.ed.gov/learn/blog/announcing-iess-planned-fy27-grantmaking</a:t>
            </a:r>
          </a:p>
          <a:p xmlns:a="http://schemas.openxmlformats.org/drawingml/2006/main">
            <a:r>
              <a:t>- The investment pathway is editorial framing, not a direct claim that awards have been made.</a:t>
            </a:r>
          </a:p>
          <a:p xmlns:a="http://schemas.openxmlformats.org/drawingml/2006/main">
            <a:r>
              <a:t>- IES states that it launched five competitions in the first of three tranches.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https://ies.ed.gov/learn/blog/announcing-iess-planned-fy27-grantmaking</a:t>
            </a:r>
          </a:p>
          <a:p xmlns:a="http://schemas.openxmlformats.org/drawingml/2006/main">
            <a:r>
              <a:t>- IES headline and body use 'planned' grantmaking.</a:t>
            </a:r>
          </a:p>
          <a:p xmlns:a="http://schemas.openxmlformats.org/drawingml/2006/main">
            <a:r>
              <a:t>- The source explicitly states the topical shift affects only the second and third tranches—not the first tranche announced August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https://ies.ed.gov/learn/blog/announcing-iess-planned-fy27-grantmaking</a:t>
            </a:r>
          </a:p>
          <a:p xmlns:a="http://schemas.openxmlformats.org/drawingml/2006/main">
            <a:r>
              <a:t>- Competition names and Assistance Listing numbers verified against the August 6 IES announcement.</a:t>
            </a:r>
          </a:p>
          <a:p xmlns:a="http://schemas.openxmlformats.org/drawingml/2006/main">
            <a:r>
              <a:t>- 'Core infrastructure' is quoted from the IES announcement.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https://ies.ed.gov/learn/blog/announcing-iess-planned-fy27-grantmaking</a:t>
            </a:r>
          </a:p>
          <a:p xmlns:a="http://schemas.openxmlformats.org/drawingml/2006/main">
            <a:r>
              <a:t>- Topic areas and the limitation to tranches two and three are verified against the IES announcement.</a:t>
            </a:r>
          </a:p>
          <a:p xmlns:a="http://schemas.openxmlformats.org/drawingml/2006/main">
            <a:r>
              <a:t>- Literacy and STEM are shown as shared areas because the source table presents them across general and special 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https://ies.ed.gov/learn/blog/announcing-iess-planned-fy27-grantmaking</a:t>
            </a:r>
          </a:p>
          <a:p xmlns:a="http://schemas.openxmlformats.org/drawingml/2006/main">
            <a:r>
              <a:t>- The FY27–FY29 continuation is explicitly tentative in the IES announcement.</a:t>
            </a:r>
          </a:p>
          <a:p xmlns:a="http://schemas.openxmlformats.org/drawingml/2006/main">
            <a:r>
              <a:t>- The 'when possible' and inaugural-year caveats are preserved.</a:t>
            </a:r>
          </a:p>
          <a:p xmlns:a="http://schemas.openxmlformats.org/drawingml/2006/main">
            <a:r>
              <a:t>- OpenAI-generated editorial illustration;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https://ies.ed.gov/learn/blog/announcing-iess-planned-fy27-grantmaking</a:t>
            </a:r>
          </a:p>
          <a:p xmlns:a="http://schemas.openxmlformats.org/drawingml/2006/main">
            <a:r>
              <a:t>- IES says it anticipates Hubs serving as needs-sensors and evidence-synthesizers in FY27 and beyond.</a:t>
            </a:r>
          </a:p>
          <a:p xmlns:a="http://schemas.openxmlformats.org/drawingml/2006/main">
            <a:r>
              <a:t>- The source says this work may inform later research agendas and provide evidence-based content for educators and policymakers.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https://ies.ed.gov/learn/blog/announcing-iess-planned-fy27-grantmaking</a:t>
            </a:r>
          </a:p>
          <a:p xmlns:a="http://schemas.openxmlformats.org/drawingml/2006/main">
            <a:r>
              <a:t>- All tranche timing, program names, and Assistance Listing numbers are verified against the IES announcement.</a:t>
            </a:r>
          </a:p>
          <a:p xmlns:a="http://schemas.openxmlformats.org/drawingml/2006/main">
            <a:r>
              <a:t>- The source uses 'anticipates' for the second and third tranche timing; the slide preserves that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https://ies.ed.gov/learn/blog/announcing-iess-planned-fy27-grantmaking</a:t>
            </a:r>
          </a:p>
          <a:p xmlns:a="http://schemas.openxmlformats.org/drawingml/2006/main">
            <a:r>
              <a:t>- The action language is editorial framing supplied by the user; it does not claim that awards have already been made.</a:t>
            </a:r>
          </a:p>
          <a:p xmlns:a="http://schemas.openxmlformats.org/drawingml/2006/main">
            <a:r>
              <a:t>- The source link is embedded in the call to action.</a:t>
            </a:r>
          </a:p>
          <a:p xmlns:a="http://schemas.openxmlformats.org/drawingml/2006/main">
            <a:r>
              <a:t>- OpenAI-generated symbolic community illustration;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62da936ac40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73551b456c44e5" /><Relationship Type="http://schemas.openxmlformats.org/officeDocument/2006/relationships/slideLayout" Target="/ppt/slideLayouts/slideLayout1.xml" Id="R7c35cc728eac4b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35cc728eac4b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667aca54441ac" /><Relationship Type="http://schemas.openxmlformats.org/officeDocument/2006/relationships/image" Target="/ppt/media/image.png" Id="R62aff1ff01c14f5f" /><Relationship Type="http://schemas.openxmlformats.org/officeDocument/2006/relationships/notesSlide" Target="/ppt/notesSlides/notesSlide1.xml" Id="Rd574586164054e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6fa53418a44d8" /><Relationship Type="http://schemas.openxmlformats.org/officeDocument/2006/relationships/notesSlide" Target="/ppt/notesSlides/notesSlide2.xml" Id="R744f1e19667c45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70d3c8d86468c" /><Relationship Type="http://schemas.openxmlformats.org/officeDocument/2006/relationships/notesSlide" Target="/ppt/notesSlides/notesSlide3.xml" Id="Rc581c2986f5b44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17fbf454547b2" /><Relationship Type="http://schemas.openxmlformats.org/officeDocument/2006/relationships/notesSlide" Target="/ppt/notesSlides/notesSlide4.xml" Id="Rab028a2edc4141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9c6a20df74f35" /><Relationship Type="http://schemas.openxmlformats.org/officeDocument/2006/relationships/notesSlide" Target="/ppt/notesSlides/notesSlide5.xml" Id="R99d3d04499b044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de864dcb64599" /><Relationship Type="http://schemas.openxmlformats.org/officeDocument/2006/relationships/image" Target="/ppt/media/image2.png" Id="Rd6ccfa04b9b74f2d" /><Relationship Type="http://schemas.openxmlformats.org/officeDocument/2006/relationships/notesSlide" Target="/ppt/notesSlides/notesSlide6.xml" Id="R193703172e104e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e4b5143034750" /><Relationship Type="http://schemas.openxmlformats.org/officeDocument/2006/relationships/notesSlide" Target="/ppt/notesSlides/notesSlide7.xml" Id="R2bfb47f15b7044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6a41d4e9b4f28" /><Relationship Type="http://schemas.openxmlformats.org/officeDocument/2006/relationships/notesSlide" Target="/ppt/notesSlides/notesSlide8.xml" Id="Ra95296d6236146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27c24d94d4d17" /><Relationship Type="http://schemas.openxmlformats.org/officeDocument/2006/relationships/image" Target="/ppt/media/image3.png" Id="Rd8e50f55d66040f7" /><Relationship Type="http://schemas.openxmlformats.org/officeDocument/2006/relationships/hyperlink" Target="https://ies.ed.gov/learn/blog/announcing-iess-planned-fy27-grantmaking" TargetMode="External" Id="R8324ed6aa062474e" /><Relationship Type="http://schemas.openxmlformats.org/officeDocument/2006/relationships/notesSlide" Target="/ppt/notesSlides/notesSlide9.xml" Id="R914f860087fb4b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ff1ff01c14f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28E2C-9E26-4490-98FA-FD60DEA2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38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57769-1B56-4961-8E53-C6F105C9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INDEPENDENT EXPLAINER • AUGUST 6, 2026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4F3D954-A335-4DBB-9064-2A19D44F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2672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8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IES has launched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first five FY27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research competitions.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E022D-6A8B-4DF9-B8AD-0AF5A33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96D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BD137-3D97-442C-B686-E1DC8FFA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0" i="1">
                <a:solidFill>
                  <a:srgbClr val="F5D89B"/>
                </a:solidFill>
                <a:latin typeface="Georgia"/>
                <a:ea typeface="Georgia"/>
                <a:cs typeface="Georgia"/>
              </a:defRPr>
            </a:pPr>
            <a:r>
              <a:rPr sz="2625" b="0" i="1">
                <a:solidFill>
                  <a:srgbClr val="F5D89B"/>
                </a:solidFill>
                <a:latin typeface="Georgia"/>
                <a:ea typeface="Georgia"/>
                <a:cs typeface="Georgia"/>
              </a:rPr>
              <a:t>A public investment begins to move.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87863-FE8C-4117-A005-117B738C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249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Planned FY27 grantmaking</a:t>
            </a:r>
          </a:p>
        </p:txBody>
      </p:sp>
    </p:spTree>
    <p:extLst>
      <p:ext uri="{BB962C8B-B14F-4D97-AF65-F5344CB8AC3E}">
        <p14:creationId xmlns:p14="http://schemas.microsoft.com/office/powerpoint/2010/main" val="1209661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Why this matters">
            <a:extLst xmlns:a="http://schemas.openxmlformats.org/drawingml/2006/main">
              <a:ext uri="{FF2B5EF4-FFF2-40B4-BE49-F238E27FC236}">
                <a16:creationId xmlns:a16="http://schemas.microsoft.com/office/drawing/2014/main" id="{83C338D9-D50D-4763-82A7-6BA38060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7D268-EF7D-4649-8A4E-54E2DB3E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D5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92F58-2F2B-43E0-84DF-1DDA4C2A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050" b="1" i="0">
                <a:solidFill>
                  <a:srgbClr val="082A3C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082A3C"/>
                </a:solidFill>
                <a:latin typeface="Georgia"/>
                <a:ea typeface="Georgia"/>
                <a:cs typeface="Georgia"/>
              </a:rPr>
              <a:t>This is how public investment begins moving toward public benefit.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F9D95-4B62-422D-A7A7-ECE926C4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The announcement opens a pathway. The value comes through what follows.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D8839-D33B-44F4-8F36-8BF1990C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8102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A83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72208-1BE7-40CC-8B1E-79AEA3BD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715000"/>
            <a:ext cx="2095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5A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1FD7E-13BE-4C5C-8885-74B58912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8102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A8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F78DE-CEF7-45E1-946C-B2F4B360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715000"/>
            <a:ext cx="2095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5A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784A5-9668-4F14-8354-7A5FF802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8102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A83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88217-C0AD-44BB-8E08-9D38475D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15000"/>
            <a:ext cx="2095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5A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B251C-16AA-4C6F-81A9-F2AB2EC4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8102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A8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AFB4A-CF30-4176-A067-F6DA53A8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15000"/>
            <a:ext cx="2095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5A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7C2A4-9D04-44E3-9AE8-63EA9E4F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E6AF6-F64A-4ED9-B500-B3E4C4DB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14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F903D-8A97-4D78-9806-3E25C440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shared commitment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A4AA0-6A05-4476-86B6-CFBEAAFA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BA4D0-2F14-47D7-B72E-81C37057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05400"/>
            <a:ext cx="114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5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GRANT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COMPETITIONS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46ADB-D257-4F2F-A0A4-FD04CC86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36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questions +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9D1CA-290B-4CE1-8059-103BA563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F84DE-120E-4A9A-ABBE-3BFE3AF6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05400"/>
            <a:ext cx="114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AWARDS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6D7D0-9DDE-448D-851A-A2DF942A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6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people + projects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AE97F-1D9A-4AFE-AB64-6C7C6BA0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29756-B227-45B3-9ECC-FC397096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114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5120D-2D1D-4F5B-869F-4396D0B4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36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knowledge built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3E8FD-33ED-44F8-A0E9-4DE2DF37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C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F9145-92C1-44B3-ADA8-BAD5969B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05400"/>
            <a:ext cx="114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605DA-2B18-44A7-B657-3FED5F3D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62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learners + communities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C83438-8136-44F5-9C5A-E6BF53E2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72375"/>
            <a:ext cx="89154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F5D8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FD77E8-2B42-4AE5-9810-2F23668A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86700"/>
            <a:ext cx="830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C36"/>
                </a:solidFill>
                <a:latin typeface="Arial"/>
                <a:ea typeface="Arial"/>
                <a:cs typeface="Arial"/>
              </a:rPr>
              <a:t>The IES post announces the first step. </a:t>
            </a:r>
            <a:r>
              <a:rPr sz="2100">
                <a:solidFill>
                  <a:srgbClr val="122C36"/>
                </a:solidFill>
                <a:latin typeface="Arial"/>
                <a:ea typeface="Arial"/>
                <a:cs typeface="Arial"/>
              </a:rPr>
              <a:t>Awards and public outcomes come later.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5F01E7-7A19-46C4-9032-24318213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631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IES • PLANNED FY27 GRANTMAKING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24BFEC-5909-4506-996B-E01B327F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734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3906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A meaningful beginning">
            <a:extLst xmlns:a="http://schemas.openxmlformats.org/drawingml/2006/main">
              <a:ext uri="{FF2B5EF4-FFF2-40B4-BE49-F238E27FC236}">
                <a16:creationId xmlns:a16="http://schemas.microsoft.com/office/drawing/2014/main" id="{CECA5B85-6D5C-4D70-8C3D-69E0EEA8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A MEANINGFUL BEGINNING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5D68-DE77-4D53-A2B7-EA6772D6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5D89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E08A3-C1F5-4741-A9D2-7EB61108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686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But announcing a competition is only the first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9CCF5-FFB2-4B33-B790-737E89F4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 i="0">
                <a:solidFill>
                  <a:srgbClr val="E5A83E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E5A83E"/>
                </a:solidFill>
                <a:latin typeface="Arial"/>
                <a:ea typeface="Arial"/>
                <a:cs typeface="Arial"/>
              </a:rPr>
              <a:t>LAUNCHED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16970-2FE4-465C-A6EB-484DAF7B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819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100" b="1" i="0">
                <a:solidFill>
                  <a:srgbClr val="D96D56"/>
                </a:solidFill>
                <a:latin typeface="Georgia"/>
                <a:ea typeface="Georgia"/>
                <a:cs typeface="Georgia"/>
              </a:defRPr>
            </a:pPr>
            <a:r>
              <a:rPr sz="5100" b="1" i="0">
                <a:solidFill>
                  <a:srgbClr val="D96D56"/>
                </a:solidFill>
                <a:latin typeface="Georgia"/>
                <a:ea typeface="Georgia"/>
                <a:cs typeface="Georgia"/>
              </a:rPr>
              <a:t>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3B16B-EE06-4241-A814-DC600C5B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4133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02978-352E-420A-975B-D19EAC64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77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2A45E-82DB-40ED-B291-323EADAE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9871C-FCAF-4A53-A8B5-EF08F8ED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673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IES describes FY27 grantmaking as planned.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A6C61-A2CE-42DE-A100-5EE5070D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198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9CCDB-14A6-4D6D-BE91-13F03F6D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39127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post launches competitions—not awards.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5155C-90AB-43BD-AF31-7F9899C1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438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05D0C-2FE4-495D-8068-67ABFC80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5152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new topic focus applies only to tranches two and three.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19867-48D9-4A62-BB99-E3E8C76F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631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IES • PLANNED FY27 GRANTMAKING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99492-A4E9-4645-8A07-AB6FBAC8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734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7608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First tranche • launched August 6">
            <a:extLst xmlns:a="http://schemas.openxmlformats.org/drawingml/2006/main">
              <a:ext uri="{FF2B5EF4-FFF2-40B4-BE49-F238E27FC236}">
                <a16:creationId xmlns:a16="http://schemas.microsoft.com/office/drawing/2014/main" id="{A947A389-DB59-4A7F-83A7-D570EDBE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FIRST TRANCHE • LAUNCHED AUGUST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87A13-D960-4E54-B0F1-84B8DAB9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D5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83B47-CA8B-49A5-9D48-05283CE6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75" b="1" i="0">
                <a:solidFill>
                  <a:srgbClr val="082A3C"/>
                </a:solidFill>
                <a:latin typeface="Georgia"/>
                <a:ea typeface="Georgia"/>
                <a:cs typeface="Georgia"/>
              </a:defRPr>
            </a:pPr>
            <a:r>
              <a:rPr sz="3975" b="1" i="0">
                <a:solidFill>
                  <a:srgbClr val="082A3C"/>
                </a:solidFill>
                <a:latin typeface="Georgia"/>
                <a:ea typeface="Georgia"/>
                <a:cs typeface="Georgia"/>
              </a:rPr>
              <a:t>Five core competitions strengthen data, methods, and research talent.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CB50D-3E65-4E00-A484-6F2383F6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47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IES calls these familiar, topic-agnostic programs “core infrastructure.”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F29A6-C5C0-4E29-849F-1E3629C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96D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1E329-EA8D-49C4-B6A3-667C1965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STATE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5F7B3-67D1-4C53-817F-181B648A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84.305S  •  NCER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84.324S  •  NCSER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4B226-6CC3-4448-96AD-49E2CB36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6479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Using State Longitudinal Data to Support State Education Policymaking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9B479-D9B8-47DC-AF29-732F1505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F77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782E8-8E33-4FD6-8518-88962533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3F777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F7776"/>
                </a:solidFill>
                <a:latin typeface="Arial"/>
                <a:ea typeface="Arial"/>
                <a:cs typeface="Arial"/>
              </a:rPr>
              <a:t>RESEARCH TRAINING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E91D2-6122-4A72-A729-42F95CC5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84.305B  •  NCER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84.324B  •  NCSER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69ED4-550B-461B-B384-7B20BC7F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86500"/>
            <a:ext cx="26479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Research Training Programs in education sciences and special education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4B435-EA24-4D9B-91FB-2DC7F8C2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5A8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FF4A4-4AE6-44B1-985B-925076D9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E5A83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5A83E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CD901-1CA7-455B-A661-580C0CBC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958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84.305D  •  NCER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016C1-7297-4EA0-B4A6-9634404E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286500"/>
            <a:ext cx="2857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Statistical and Research Methodology in Education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FA71A-E270-42FB-BF2F-41ACF7CF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15350"/>
            <a:ext cx="8915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6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9A933-9085-4340-914D-C016E617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05850"/>
            <a:ext cx="830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 i="1">
                <a:solidFill>
                  <a:srgbClr val="082A3C"/>
                </a:solidFill>
                <a:latin typeface="Georgia"/>
                <a:ea typeface="Georgia"/>
                <a:cs typeface="Georgia"/>
              </a:defRPr>
            </a:pPr>
            <a:r>
              <a:rPr sz="2025" b="0" i="1">
                <a:solidFill>
                  <a:srgbClr val="082A3C"/>
                </a:solidFill>
                <a:latin typeface="Georgia"/>
                <a:ea typeface="Georgia"/>
                <a:cs typeface="Georgia"/>
              </a:rPr>
              <a:t>Familiar by design. Foundational by purpose.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AC516-27D5-41AE-B0D2-2E6A64C7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631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IES • PLANNED FY27 GRANTMAKING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00A54-140A-4E94-82DF-7DADC533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734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3288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35C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Later tranches">
            <a:extLst xmlns:a="http://schemas.openxmlformats.org/drawingml/2006/main">
              <a:ext uri="{FF2B5EF4-FFF2-40B4-BE49-F238E27FC236}">
                <a16:creationId xmlns:a16="http://schemas.microsoft.com/office/drawing/2014/main" id="{3214B44C-1A42-4D1C-9F13-C04115CC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LATER TRANCHES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140E2-DCAE-44CC-BDBD-0A13A1B8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5D89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BF933-C8C4-46A2-9C56-D99075FA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1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Later competitions are planned around persistent education challenges.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EA7BA-7A35-4A19-A19C-AD81EBB3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Shared priorities across general and special education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A12BD-2F78-4276-89CD-A4FA6C4F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LITERACY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D4068-14B2-407E-8719-E8A6B0C1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0" i="0">
                <a:solidFill>
                  <a:srgbClr val="D96D56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D96D56"/>
                </a:solidFill>
                <a:latin typeface="Georgia"/>
                <a:ea typeface="Georgia"/>
                <a:cs typeface="Georgia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D7C91-AA68-4AFF-8887-5E7F3FD7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D373A-0E1F-4E51-B13C-058FEC7D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777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DD2EA-532F-41E4-99EA-8EAFB8A2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GENERAL EDUCATION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373C7-3D25-4322-A11C-38C0F984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Strengthening Systems for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Evidence-Based Practice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Transitions from Secondary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Education to the Workforce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638C9-EA53-43B8-9F6B-2B61B89E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62550"/>
            <a:ext cx="0" cy="2876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77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5C8E6-0A07-44DD-BE37-A57D83CC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054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SPECIAL EDUCATION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74EFB-2F76-4FF0-BA07-B67D697A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5310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Special Education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Workforce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Low-Incidence Disabilities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27323-4A0A-490C-8458-48A1426F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91575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Important: this focus applies only to the second and third tranches.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F834B-5B20-4BA9-8FD2-99A174DD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631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IES • PLANNED FY27 GRANTMAKING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95DB9-6DD9-4F23-8411-1AA2F7D7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734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167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cfa04b9b74f2d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4572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7DC03-6550-4A32-A9A7-BB8EC491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Accumulating knowledge">
            <a:extLst xmlns:a="http://schemas.openxmlformats.org/drawingml/2006/main">
              <a:ext uri="{FF2B5EF4-FFF2-40B4-BE49-F238E27FC236}">
                <a16:creationId xmlns:a16="http://schemas.microsoft.com/office/drawing/2014/main" id="{96A0E931-0458-49F1-9B23-FEBFCA2D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ACCUMULATING KNOWLEDGE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BDD8C-3723-4F05-9DC9-47291FBB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D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5092F-A342-4634-9324-423BB535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762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750" b="1" i="0">
                <a:solidFill>
                  <a:srgbClr val="082A3C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082A3C"/>
                </a:solidFill>
                <a:latin typeface="Georgia"/>
                <a:ea typeface="Georgia"/>
                <a:cs typeface="Georgia"/>
              </a:rPr>
              <a:t>Multi-year agendas can help separate studies build shared knowledge.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C4870-CB6F-4B26-BBE7-9CA7CE14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686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MANY STUDIES.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ONE BODY OF KNOWLEDGE.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07EE1-ABC5-49EC-88F5-1381CD43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67953-E234-4291-BAE4-EF509171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4267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Topics are tentatively expected to persist across FY27, FY28, and FY29.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833DE-A795-47F8-B5EE-200DD969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43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77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491DB-45A4-42A2-B5A3-24499ACF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67500"/>
            <a:ext cx="4267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When possible, future RFAs will include connected research questions.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61C4D-6B05-4DCD-8A39-EFDD17FE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48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2972F-B231-47A9-8966-D3F9456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72400"/>
            <a:ext cx="4267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Not every topic will have a detailed agenda in the inaugural year.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4DE3C-4B84-4DAD-AF47-F826958B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631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IES • PLANNED FY27 GRANTMAKING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CD857-41EA-4CC1-94AC-01909827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734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4607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38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Networks + hubs">
            <a:extLst xmlns:a="http://schemas.openxmlformats.org/drawingml/2006/main">
              <a:ext uri="{FF2B5EF4-FFF2-40B4-BE49-F238E27FC236}">
                <a16:creationId xmlns:a16="http://schemas.microsoft.com/office/drawing/2014/main" id="{5AFAEA10-1B27-48CA-8092-99680650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NETWORKS + HUBS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55F90-ED3E-4308-AC45-8F526FA2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5D89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88B25-F77B-4058-9CE1-AB7C9704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Networks and hubs can connect field needs, evidence, and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F2E43-6A67-4D23-A479-46DD71E6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B8C7B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B8C7B3"/>
                </a:solidFill>
                <a:latin typeface="Arial"/>
                <a:ea typeface="Arial"/>
                <a:cs typeface="Arial"/>
              </a:rPr>
              <a:t>IES anticipates two more explicit roles for Hubs: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C4FE3-2F80-4CB6-9BEE-10152BD0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816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C7B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5350B-48A8-4E6E-81AE-D9963CB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86375"/>
            <a:ext cx="2095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8D4C2-9384-41F8-8C00-B95C75D3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816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C7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EDD82-BB68-4849-B805-18605FEC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86375"/>
            <a:ext cx="2095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DFF30-1A6C-42E7-8CB2-AABED4B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813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112C9-77F6-41B8-A48C-10F0607C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81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6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A86A4-AEC0-4CEC-98F5-74CC1B15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SENSE NEEDS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4D8A7-8772-4108-AA42-36DD88A0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2324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listen for the questions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72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practice and policy need answered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62E13-F4D8-4888-9DCA-1B3FE448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91000"/>
            <a:ext cx="27813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41DAB-AD92-47A8-918B-7A4907E7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91000"/>
            <a:ext cx="2781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F77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93230-C087-4AFC-9222-BB6B92CF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CONNECT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536EB-0A7C-47CE-8DE8-28D51CF9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95900"/>
            <a:ext cx="2324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coordinate and amplify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72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discrete research projects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37133-3D25-4CCB-B5E3-99C2BE99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91000"/>
            <a:ext cx="27813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3D948-74A8-4E63-9737-22EE1A5B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91000"/>
            <a:ext cx="2781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A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7664A-06A4-46AC-A5EF-E4D5BC92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67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SYNTHESIZE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9A2C7-D28D-4EA4-8AD8-FD5D3340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95900"/>
            <a:ext cx="2324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turn findings into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72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usable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8BD98-B51A-4D6B-AB9C-39C36EE7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3152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777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D4A8E-644A-4032-A0F7-EF08B06E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724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research agendas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2B093-977C-4392-9F53-B6732355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715250"/>
            <a:ext cx="91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0" i="0">
                <a:solidFill>
                  <a:srgbClr val="D96D56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D96D56"/>
                </a:solidFill>
                <a:latin typeface="Georgia"/>
                <a:ea typeface="Georgia"/>
                <a:cs typeface="Georgia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08720-E48E-4866-936E-7150B0AA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7562850"/>
            <a:ext cx="3733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Useful evidence for learners, educators + communities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2B160-4C75-4C73-BB43-82AF9C8C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631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IES • PLANNED FY27 GRANTMAKING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CF0A7-8CEC-4150-9171-498E91B5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734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5291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The FY27 rollout">
            <a:extLst xmlns:a="http://schemas.openxmlformats.org/drawingml/2006/main">
              <a:ext uri="{FF2B5EF4-FFF2-40B4-BE49-F238E27FC236}">
                <a16:creationId xmlns:a16="http://schemas.microsoft.com/office/drawing/2014/main" id="{65573CED-65AA-4828-89B4-BF2207DA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THE FY27 ROLLOUT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3BEFF-1A57-4D7D-A2FF-821F0EBB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D5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A01D1-8B9C-4A7F-BE79-4B2978A6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082A3C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082A3C"/>
                </a:solidFill>
                <a:latin typeface="Georgia"/>
                <a:ea typeface="Georgia"/>
                <a:cs typeface="Georgia"/>
              </a:rPr>
              <a:t>IES anticipates three waves of FY27 grantmaking.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F4082-29E8-4BB5-87DF-A6A9AC8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48000"/>
            <a:ext cx="0" cy="542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E5A8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B9F92-F369-4833-A8F4-5B3A85F6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9525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3C567-D4DD-4729-AB50-525C0F39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A2EE5-5C4C-480B-883A-153C4106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241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D96D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96D56"/>
                </a:solidFill>
                <a:latin typeface="Arial"/>
                <a:ea typeface="Arial"/>
                <a:cs typeface="Arial"/>
              </a:rPr>
              <a:t>AUGUST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05577-F0BD-40B7-8EE8-BFD267D6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Five core competitions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6AA50-EC2F-412F-9D10-45D7A694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147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State longitudinal data • Research training • Statistical and research methodology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DB113-FFDB-41D3-8AAA-B512E885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05375"/>
            <a:ext cx="9525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77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B37C4-9898-47C4-9A6D-C6320480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5FE7F-0031-44FA-A457-9ABD663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672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3F777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F7776"/>
                </a:solidFill>
                <a:latin typeface="Arial"/>
                <a:ea typeface="Arial"/>
                <a:cs typeface="Arial"/>
              </a:rPr>
              <a:t>LATE SEPT. / EARLY OCT.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51F08-B399-46C7-9FDE-B6BD5785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863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Two innovation competitions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7E1B7-D00E-4E7E-B9D4-1889610B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857875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From Seedlings to Scale (84.305J)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Transformational Research in Special Education (84.324T)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C080E-C21E-4F80-95D6-5EBAD4F8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219950"/>
            <a:ext cx="9525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5C934-D0E8-46C4-A536-E3F5B0E5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39025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D8B55-F5A6-40C4-ABE6-4C104E95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71818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E5A83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5A83E"/>
                </a:solidFill>
                <a:latin typeface="Arial"/>
                <a:ea typeface="Arial"/>
                <a:cs typeface="Arial"/>
              </a:rPr>
              <a:t>DECEMBER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DD3F3-D124-420F-8336-9AE416FF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76009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82A3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82A3C"/>
                </a:solidFill>
                <a:latin typeface="Arial"/>
                <a:ea typeface="Arial"/>
                <a:cs typeface="Arial"/>
              </a:rPr>
              <a:t>Research grants, centers, and networks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5BC4D-2A45-4722-A42E-C3646046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81724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22C3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22C36"/>
                </a:solidFill>
                <a:latin typeface="Arial"/>
                <a:ea typeface="Arial"/>
                <a:cs typeface="Arial"/>
              </a:rPr>
              <a:t>84.305A / 84.324A  •  84.305C / 84.324C  •  84.305N / 84.324N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CEED9-D844-4523-B090-913ECE58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067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Anticipated timing—not award dates.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B61FF-E5DD-4531-8224-B6900A70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631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IES • PLANNED FY27 GRANTMAKING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63E21-EAA7-4A16-8FB6-955952CA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7345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5C6C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C6C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31655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50f55d66040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163B3-904C-48F1-B400-419A9B5B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16B55-EBD2-4FC9-AD77-187C30C9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SHARE THE 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7AA9F-D810-442D-89B0-A33DBE45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762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Say why it matters.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Keep watch until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dollars reach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DA2FF-8B01-4FB0-BB86-FF80F606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96D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B507B-CEA1-4BC6-B3CB-ED0E7B3F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F5D89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5D89B"/>
                </a:solidFill>
                <a:latin typeface="Arial"/>
                <a:ea typeface="Arial"/>
                <a:cs typeface="Arial"/>
              </a:rPr>
              <a:t>When you share, name one thing: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77259-3700-4CCE-8C79-9DD84594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05600"/>
            <a:ext cx="4667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the problem this research could help solve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the children, educators, families, or communities who could benefit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what public follow-through would make possible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ABE81-8107-4697-BD14-B597A5BC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E5A83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5A83E"/>
                </a:solidFill>
                <a:latin typeface="Arial"/>
                <a:ea typeface="Arial"/>
                <a:cs typeface="Arial"/>
                <a:hlinkClick xmlns:r="http://schemas.openxmlformats.org/officeDocument/2006/relationships" r:id="R8324ed6aa062474e"/>
              </a:rPr>
              <a:t>Read the IES announcement 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FB755-A866-4B17-B10B-7C2E2C70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916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B8C7B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8C7B3"/>
                </a:solidFill>
                <a:latin typeface="Arial"/>
                <a:ea typeface="Arial"/>
                <a:cs typeface="Arial"/>
              </a:rPr>
              <a:t>Independent explainer • Source: IES, August 6, 2026</a:t>
            </a:r>
          </a:p>
        </p:txBody>
      </p:sp>
    </p:spTree>
    <p:extLst>
      <p:ext uri="{BB962C8B-B14F-4D97-AF65-F5344CB8AC3E}">
        <p14:creationId xmlns:p14="http://schemas.microsoft.com/office/powerpoint/2010/main" val="1727354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2026-08-06T19:30:35.9260000Z</dcterms:created>
  <dcterms:modified xsi:type="dcterms:W3CDTF">2026-08-06T19:30:35.9260000Z</dcterms:modified>
</coreProperties>
</file>